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0"/>
  </p:notesMasterIdLst>
  <p:sldIdLst>
    <p:sldId id="256" r:id="rId2"/>
    <p:sldId id="317" r:id="rId3"/>
    <p:sldId id="305" r:id="rId4"/>
    <p:sldId id="257" r:id="rId5"/>
    <p:sldId id="344" r:id="rId6"/>
    <p:sldId id="346" r:id="rId7"/>
    <p:sldId id="345" r:id="rId8"/>
    <p:sldId id="347" r:id="rId9"/>
    <p:sldId id="328" r:id="rId10"/>
    <p:sldId id="321" r:id="rId11"/>
    <p:sldId id="322" r:id="rId12"/>
    <p:sldId id="324" r:id="rId13"/>
    <p:sldId id="348" r:id="rId14"/>
    <p:sldId id="349" r:id="rId15"/>
    <p:sldId id="319" r:id="rId16"/>
    <p:sldId id="350" r:id="rId17"/>
    <p:sldId id="331" r:id="rId18"/>
    <p:sldId id="351" r:id="rId19"/>
    <p:sldId id="352" r:id="rId20"/>
    <p:sldId id="354" r:id="rId21"/>
    <p:sldId id="355" r:id="rId22"/>
    <p:sldId id="356" r:id="rId23"/>
    <p:sldId id="353" r:id="rId24"/>
    <p:sldId id="284" r:id="rId25"/>
    <p:sldId id="332" r:id="rId26"/>
    <p:sldId id="318" r:id="rId27"/>
    <p:sldId id="327" r:id="rId28"/>
    <p:sldId id="293" r:id="rId2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8105" autoAdjust="0"/>
  </p:normalViewPr>
  <p:slideViewPr>
    <p:cSldViewPr snapToGrid="0">
      <p:cViewPr varScale="1">
        <p:scale>
          <a:sx n="72" d="100"/>
          <a:sy n="72" d="100"/>
        </p:scale>
        <p:origin x="1541" y="7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Its explains the overall data architecture of AI-</a:t>
            </a:r>
            <a:r>
              <a:rPr lang="en-US" b="1" dirty="0" err="1"/>
              <a:t>Sahayak</a:t>
            </a:r>
            <a:r>
              <a:rPr lang="en-US" b="1" dirty="0"/>
              <a:t> and how information flows through the system in a secure and efficient way.</a:t>
            </a:r>
            <a:br>
              <a:rPr lang="en-US" b="1" dirty="0"/>
            </a:br>
            <a:r>
              <a:rPr lang="en-US" b="1" dirty="0"/>
              <a:t>1. </a:t>
            </a:r>
            <a:r>
              <a:rPr lang="en-US" dirty="0"/>
              <a:t>At the top, we have the </a:t>
            </a:r>
            <a:r>
              <a:rPr lang="en-US" b="1" dirty="0"/>
              <a:t>Security &amp; Compliance layer</a:t>
            </a:r>
            <a:r>
              <a:rPr lang="en-US" dirty="0"/>
              <a:t>, which ensures the entire system operates safely. </a:t>
            </a:r>
            <a:r>
              <a:rPr lang="en-IN" dirty="0"/>
              <a:t>for all data transfers, for authorized users, keeping personal data within the country, to track system activity   - </a:t>
            </a:r>
            <a:r>
              <a:rPr lang="en-US" dirty="0"/>
              <a:t>This layer protects sensitive business data and makes the system trustworthy.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This layer is responsible for collecting and preprocessing data from </a:t>
            </a:r>
            <a:r>
              <a:rPr lang="en-US" b="1" dirty="0"/>
              <a:t>multiple sources</a:t>
            </a:r>
            <a:r>
              <a:rPr lang="en-US" dirty="0"/>
              <a:t>. This ensures that only high-quality, machine-readable data enters the system.</a:t>
            </a:r>
            <a:br>
              <a:rPr lang="en-US" dirty="0"/>
            </a:br>
            <a:r>
              <a:rPr lang="en-US" dirty="0"/>
              <a:t>All incoming data first goes through an </a:t>
            </a:r>
            <a:r>
              <a:rPr lang="en-US" b="1" dirty="0"/>
              <a:t>ETL Preprocessor</a:t>
            </a:r>
            <a:r>
              <a:rPr lang="en-US" dirty="0"/>
              <a:t>, which performs: Cleaning, Structuring, Metadata tagging, Preparing the content for AI processing</a:t>
            </a:r>
          </a:p>
          <a:p>
            <a:br>
              <a:rPr lang="en-US" dirty="0"/>
            </a:br>
            <a:r>
              <a:rPr lang="en-US" dirty="0"/>
              <a:t>3. Once the data is preprocessed, it is handled by two key engines: </a:t>
            </a:r>
            <a:r>
              <a:rPr lang="en-IN" dirty="0"/>
              <a:t>legal/financial text, for extracting important fields, </a:t>
            </a:r>
            <a:r>
              <a:rPr lang="en-US" dirty="0"/>
              <a:t>to convert complex laws into simple explanations - This layer enables the AI to understand regulatory language and respond accurately.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OCR engine (AWS </a:t>
            </a:r>
            <a:r>
              <a:rPr lang="en-US" b="1" dirty="0" err="1"/>
              <a:t>Textract</a:t>
            </a:r>
            <a:r>
              <a:rPr lang="en-US" b="1" dirty="0"/>
              <a:t>)</a:t>
            </a:r>
            <a:r>
              <a:rPr lang="en-US" dirty="0"/>
              <a:t> processes scanned documents uploaded by the user such as: GST certificates, Notices, Compliance forms, Invoices  -It extracts text and converts it to structured data for further analysis.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r>
              <a:rPr lang="en-IN" dirty="0"/>
              <a:t>4. </a:t>
            </a:r>
            <a:r>
              <a:rPr lang="en-US" dirty="0"/>
              <a:t>After the NLP/OCR processing, the system interacts with the user through:</a:t>
            </a:r>
          </a:p>
          <a:p>
            <a:r>
              <a:rPr lang="en-US" b="1" dirty="0"/>
              <a:t>Frontend Web Dashboard </a:t>
            </a:r>
            <a:r>
              <a:rPr lang="en-US" dirty="0"/>
              <a:t>where users can upload documents, view alerts, track compliance, and get summaries.</a:t>
            </a:r>
          </a:p>
          <a:p>
            <a:r>
              <a:rPr lang="en-US" b="1" dirty="0"/>
              <a:t>Notification System </a:t>
            </a:r>
            <a:r>
              <a:rPr lang="en-US" dirty="0"/>
              <a:t>sends reminders and updates through Email or SMS.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r>
              <a:rPr lang="en-IN" dirty="0"/>
              <a:t>5. At the bottom is the Data Storage &amp; </a:t>
            </a:r>
            <a:r>
              <a:rPr lang="en-IN" dirty="0" err="1"/>
              <a:t>MLOps</a:t>
            </a:r>
            <a:r>
              <a:rPr lang="en-IN" dirty="0"/>
              <a:t> layer, which maintains the system’s memory and supports model training:</a:t>
            </a:r>
          </a:p>
          <a:p>
            <a:r>
              <a:rPr lang="en-IN" b="1" dirty="0"/>
              <a:t>Databases (PostgreSQL/MongoDB)</a:t>
            </a:r>
            <a:r>
              <a:rPr lang="en-IN" dirty="0"/>
              <a:t> store: , user profiles, compliance history, extracted data, metadata</a:t>
            </a:r>
            <a:endParaRPr lang="en-IN" b="0" dirty="0"/>
          </a:p>
          <a:p>
            <a:r>
              <a:rPr lang="en-IN" b="1" dirty="0"/>
              <a:t>Cloud Storage</a:t>
            </a:r>
            <a:r>
              <a:rPr lang="en-IN" dirty="0"/>
              <a:t> is used for: storing documents, model artifacts, training datasets</a:t>
            </a:r>
          </a:p>
          <a:p>
            <a:r>
              <a:rPr lang="en-IN" b="1" dirty="0" err="1"/>
              <a:t>MLOps</a:t>
            </a:r>
            <a:r>
              <a:rPr lang="en-IN" b="1" dirty="0"/>
              <a:t> pipelines</a:t>
            </a:r>
            <a:r>
              <a:rPr lang="en-IN" dirty="0"/>
              <a:t> manage: model updates, retraining, deployment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layer keeps the system scalable, reliable, and easy to upgrade.</a:t>
            </a:r>
          </a:p>
        </p:txBody>
      </p:sp>
    </p:spTree>
    <p:extLst>
      <p:ext uri="{BB962C8B-B14F-4D97-AF65-F5344CB8AC3E}">
        <p14:creationId xmlns:p14="http://schemas.microsoft.com/office/powerpoint/2010/main" val="299842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explains the </a:t>
            </a:r>
            <a:r>
              <a:rPr lang="en-US" b="1" dirty="0"/>
              <a:t>sources of data</a:t>
            </a:r>
            <a:r>
              <a:rPr lang="en-US" dirty="0"/>
              <a:t> used to build AI-</a:t>
            </a:r>
            <a:r>
              <a:rPr lang="en-US" dirty="0" err="1"/>
              <a:t>Sahayak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Since our system depends on accurate legal and financial information, we pull data only from </a:t>
            </a:r>
            <a:r>
              <a:rPr lang="en-US" b="1" dirty="0"/>
              <a:t>trusted and official</a:t>
            </a:r>
            <a:r>
              <a:rPr lang="en-US" dirty="0"/>
              <a:t> sources.</a:t>
            </a:r>
            <a:br>
              <a:rPr lang="en-US" dirty="0"/>
            </a:br>
            <a:r>
              <a:rPr lang="en-US" dirty="0"/>
              <a:t>1. We collect structured and unstructured data from: For GST return dates, rule changes, and tax notifications., </a:t>
            </a:r>
          </a:p>
          <a:p>
            <a:r>
              <a:rPr lang="en-US" dirty="0"/>
              <a:t>2. To support deeper legal understanding like ….. - These repositories help the NLP engine and extract relevant rules accurately.</a:t>
            </a:r>
            <a:br>
              <a:rPr lang="en-US" dirty="0"/>
            </a:br>
            <a:r>
              <a:rPr lang="en-US" dirty="0"/>
              <a:t>3. We also use government-supported open data portals like:</a:t>
            </a:r>
            <a:br>
              <a:rPr lang="en-US" dirty="0"/>
            </a:br>
            <a:r>
              <a:rPr lang="en-US" dirty="0"/>
              <a:t>These sources help enrich our dataset and enable better analysis and model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732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Our project introduces one of the first AI-based compliance assistants designed specifically for Indian SMEs. Instead of using complicated applications, businesses can access compliance help directly through a simple web interface.</a:t>
            </a:r>
          </a:p>
          <a:p>
            <a:pPr marL="228600" indent="-228600">
              <a:buAutoNum type="arabicPeriod"/>
            </a:pPr>
            <a:r>
              <a:rPr lang="en-US" dirty="0"/>
              <a:t>We use advanced Legal-NLP models that understand Indian laws and regulations. These models can interpret legal text, extract important details, and even estimate compliance risks.</a:t>
            </a:r>
          </a:p>
          <a:p>
            <a:pPr marL="228600" indent="-228600">
              <a:buAutoNum type="arabicPeriod"/>
            </a:pPr>
            <a:r>
              <a:rPr lang="en-US" dirty="0"/>
              <a:t>The system supports </a:t>
            </a:r>
            <a:r>
              <a:rPr lang="en-US" b="1" dirty="0"/>
              <a:t>vernacular languages</a:t>
            </a:r>
            <a:r>
              <a:rPr lang="en-US" dirty="0"/>
              <a:t>, which means users can get help in simple, easy-to-understand regional languages. This improves access for small business owners who may not be comfortable with English.</a:t>
            </a:r>
          </a:p>
          <a:p>
            <a:pPr marL="228600" indent="-228600">
              <a:buAutoNum type="arabicPeriod"/>
            </a:pPr>
            <a:r>
              <a:rPr lang="en-US" dirty="0"/>
              <a:t>There is </a:t>
            </a:r>
            <a:r>
              <a:rPr lang="en-US" b="1" dirty="0"/>
              <a:t>zero adoption friction</a:t>
            </a:r>
            <a:r>
              <a:rPr lang="en-US" dirty="0"/>
              <a:t> because the system is web-based. Users do not need to download any app or learn difficult tools. They can start using it immediately.</a:t>
            </a:r>
          </a:p>
          <a:p>
            <a:pPr marL="228600" indent="-228600">
              <a:buAutoNum type="arabicPeriod"/>
            </a:pPr>
            <a:r>
              <a:rPr lang="en-US" dirty="0"/>
              <a:t>The solution is scalable to </a:t>
            </a:r>
            <a:r>
              <a:rPr lang="en-US" b="1" dirty="0"/>
              <a:t>more than 63 million SMEs in India</a:t>
            </a:r>
            <a:r>
              <a:rPr lang="en-US" dirty="0"/>
              <a:t>, which means it has the potential to create a very large real-world impact.</a:t>
            </a:r>
          </a:p>
          <a:p>
            <a:pPr marL="228600" indent="-228600">
              <a:buAutoNum type="arabicPeriod"/>
            </a:pPr>
            <a:endParaRPr lang="en-US" dirty="0"/>
          </a:p>
          <a:p>
            <a:r>
              <a:rPr lang="en-US" sz="1000" b="1" dirty="0"/>
              <a:t>Real-World Relevance </a:t>
            </a:r>
            <a:r>
              <a:rPr lang="en-US" sz="1000" dirty="0"/>
              <a:t>This project directly solves a major problem faced by Indian SMEs: difficulty in understanding and managing compliance. It has strong practical use.</a:t>
            </a:r>
          </a:p>
          <a:p>
            <a:r>
              <a:rPr lang="en-US" sz="1000" b="1" dirty="0"/>
              <a:t>Technical Innovation </a:t>
            </a:r>
            <a:r>
              <a:rPr lang="en-US" sz="1000" dirty="0"/>
              <a:t>The project combines several AI technologies like NLP, RAG, OCR, and automation in a unique way. This makes it a strong technical contribution in the </a:t>
            </a:r>
            <a:r>
              <a:rPr lang="en-US" sz="1000" dirty="0" err="1"/>
              <a:t>RegTech</a:t>
            </a:r>
            <a:r>
              <a:rPr lang="en-US" sz="1000" dirty="0"/>
              <a:t> (Regulatory Technology) space.</a:t>
            </a:r>
          </a:p>
          <a:p>
            <a:r>
              <a:rPr lang="en-US" sz="1000" b="1" dirty="0"/>
              <a:t>Scalability Potential </a:t>
            </a:r>
            <a:r>
              <a:rPr lang="en-US" sz="1000" dirty="0"/>
              <a:t>The architecture is designed to support large-scale deployment across different states and industries. It can be expanded nationwide without major changes.</a:t>
            </a:r>
          </a:p>
          <a:p>
            <a:r>
              <a:rPr lang="en-US" sz="1000" b="1" dirty="0"/>
              <a:t>Future Experimentation </a:t>
            </a:r>
            <a:r>
              <a:rPr lang="en-US" sz="1000" dirty="0"/>
              <a:t>This system provides a strong base for future work, including advanced risk prediction, multilingual voice support, document </a:t>
            </a:r>
            <a:r>
              <a:rPr lang="en-US" sz="1000" dirty="0" err="1"/>
              <a:t>autofiling</a:t>
            </a:r>
            <a:r>
              <a:rPr lang="en-US" sz="1000" dirty="0"/>
              <a:t>, and deeper legal automation.</a:t>
            </a:r>
          </a:p>
        </p:txBody>
      </p:sp>
    </p:spTree>
    <p:extLst>
      <p:ext uri="{BB962C8B-B14F-4D97-AF65-F5344CB8AC3E}">
        <p14:creationId xmlns:p14="http://schemas.microsoft.com/office/powerpoint/2010/main" val="135264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</a:t>
            </a:r>
            <a:r>
              <a:rPr lang="en-US" b="1" dirty="0"/>
              <a:t>AI-</a:t>
            </a:r>
            <a:r>
              <a:rPr lang="en-US" b="1" dirty="0" err="1"/>
              <a:t>Sahayak</a:t>
            </a:r>
            <a:r>
              <a:rPr lang="en-US" b="1" dirty="0"/>
              <a:t> brings a real change in how SMEs handle compliance.</a:t>
            </a:r>
            <a:br>
              <a:rPr lang="en-US" dirty="0"/>
            </a:br>
            <a:r>
              <a:rPr lang="en-US" dirty="0"/>
              <a:t>1. Our system makes complicated rules easy to understand and converts them into simple, actionable steps for businesses.</a:t>
            </a:r>
          </a:p>
          <a:p>
            <a:r>
              <a:rPr lang="en-US" dirty="0"/>
              <a:t>2. It helps reduce penalties and compliance risks by giving timely reminders, clear explanations, and smart guidance.</a:t>
            </a:r>
            <a:br>
              <a:rPr lang="en-US" dirty="0"/>
            </a:br>
            <a:r>
              <a:rPr lang="en-US" dirty="0"/>
              <a:t>3. The platform is accessible to everyone because it supports simple language and works smoothly through a web interface.</a:t>
            </a:r>
          </a:p>
          <a:p>
            <a:r>
              <a:rPr lang="en-US" dirty="0"/>
              <a:t>4. Most importantly, AI-</a:t>
            </a:r>
            <a:r>
              <a:rPr lang="en-US" dirty="0" err="1"/>
              <a:t>Sahayak</a:t>
            </a:r>
            <a:r>
              <a:rPr lang="en-US" dirty="0"/>
              <a:t> allows small business owners to </a:t>
            </a:r>
            <a:r>
              <a:rPr lang="en-US" b="1" dirty="0"/>
              <a:t>focus on growing their business instead of spending time on paperwork and legal confusion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By making compliance easier, faster, and more affordable, our project strengthens the Indian MSME sector — which is the backbone of our economy.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338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Our project has strong potential for expansion, and we have planned several future enhancements.</a:t>
            </a:r>
          </a:p>
          <a:p>
            <a:r>
              <a:rPr lang="en-US" sz="1000" b="1" dirty="0"/>
              <a:t>1. Technology Enhancements</a:t>
            </a:r>
          </a:p>
          <a:p>
            <a:r>
              <a:rPr lang="en-US" sz="1000" dirty="0"/>
              <a:t>In the next phase, we aim to add:</a:t>
            </a:r>
          </a:p>
          <a:p>
            <a:r>
              <a:rPr lang="en-US" sz="1000" dirty="0"/>
              <a:t>An </a:t>
            </a:r>
            <a:r>
              <a:rPr lang="en-US" sz="1000" b="1" dirty="0"/>
              <a:t>advanced risk prediction engine</a:t>
            </a:r>
            <a:r>
              <a:rPr lang="en-US" sz="1000" dirty="0"/>
              <a:t> using machine learning to warn SMEs about possible compliance risks before they occur.</a:t>
            </a:r>
          </a:p>
          <a:p>
            <a:r>
              <a:rPr lang="en-US" sz="1000" dirty="0"/>
              <a:t>Support for </a:t>
            </a:r>
            <a:r>
              <a:rPr lang="en-US" sz="1000" b="1" dirty="0"/>
              <a:t>all major Indian native languages</a:t>
            </a:r>
            <a:r>
              <a:rPr lang="en-US" sz="1000" dirty="0"/>
              <a:t>, so every business owner can use the platform comfortably.</a:t>
            </a:r>
          </a:p>
          <a:p>
            <a:r>
              <a:rPr lang="en-US" sz="1000" b="1" dirty="0"/>
              <a:t>Voice-enabled commands</a:t>
            </a:r>
            <a:r>
              <a:rPr lang="en-US" sz="1000" dirty="0"/>
              <a:t> using speech recognition, allowing users to interact hands-free.</a:t>
            </a:r>
          </a:p>
          <a:p>
            <a:r>
              <a:rPr lang="en-US" sz="1000" b="1" dirty="0"/>
              <a:t>Auto-filing integration</a:t>
            </a:r>
            <a:r>
              <a:rPr lang="en-US" sz="1000" dirty="0"/>
              <a:t> with GSTN, EPFO, and MCA portals for faster submissions.</a:t>
            </a:r>
          </a:p>
          <a:p>
            <a:r>
              <a:rPr lang="en-US" sz="1000" dirty="0"/>
              <a:t>Secure </a:t>
            </a:r>
            <a:r>
              <a:rPr lang="en-US" sz="1000" b="1" dirty="0"/>
              <a:t>e-signing features</a:t>
            </a:r>
            <a:r>
              <a:rPr lang="en-US" sz="1000" dirty="0"/>
              <a:t> and complete compliance history for audit-readiness.</a:t>
            </a:r>
          </a:p>
          <a:p>
            <a:r>
              <a:rPr lang="en-US" sz="1000" b="1" dirty="0"/>
              <a:t>2. Business Upgrades</a:t>
            </a:r>
          </a:p>
          <a:p>
            <a:r>
              <a:rPr lang="en-US" sz="1000" dirty="0"/>
              <a:t>We plan to expand the platform with:</a:t>
            </a:r>
          </a:p>
          <a:p>
            <a:r>
              <a:rPr lang="en-US" sz="1000" dirty="0"/>
              <a:t>A </a:t>
            </a:r>
            <a:r>
              <a:rPr lang="en-US" sz="1000" b="1" dirty="0"/>
              <a:t>partner network</a:t>
            </a:r>
            <a:r>
              <a:rPr lang="en-US" sz="1000" dirty="0"/>
              <a:t> of CA/CS professionals and FinTech companies for expert support.</a:t>
            </a:r>
          </a:p>
          <a:p>
            <a:r>
              <a:rPr lang="en-US" sz="1000" b="1" dirty="0"/>
              <a:t>Micro-credit scoring</a:t>
            </a:r>
            <a:r>
              <a:rPr lang="en-US" sz="1000" dirty="0"/>
              <a:t>, where SME compliance behavior can help them qualify for loans.</a:t>
            </a:r>
          </a:p>
          <a:p>
            <a:r>
              <a:rPr lang="en-US" sz="1000" dirty="0"/>
              <a:t>Affordable </a:t>
            </a:r>
            <a:r>
              <a:rPr lang="en-US" sz="1000" b="1" dirty="0"/>
              <a:t>subscription plans</a:t>
            </a:r>
            <a:r>
              <a:rPr lang="en-US" sz="1000" dirty="0"/>
              <a:t> for startups, shops, factories, and small businesses.</a:t>
            </a:r>
          </a:p>
          <a:p>
            <a:r>
              <a:rPr lang="en-US" sz="1000" b="1" dirty="0"/>
              <a:t>3. Research Extensions</a:t>
            </a:r>
          </a:p>
          <a:p>
            <a:r>
              <a:rPr lang="en-US" sz="1000" dirty="0"/>
              <a:t>Academically, we aim to explore:</a:t>
            </a:r>
          </a:p>
          <a:p>
            <a:r>
              <a:rPr lang="en-US" sz="1000" dirty="0"/>
              <a:t>Building a </a:t>
            </a:r>
            <a:r>
              <a:rPr lang="en-US" sz="1000" b="1" dirty="0"/>
              <a:t>compliance knowledge graph</a:t>
            </a:r>
            <a:r>
              <a:rPr lang="en-US" sz="1000" dirty="0"/>
              <a:t> of Indian laws for deeper legal intelligence.</a:t>
            </a:r>
          </a:p>
          <a:p>
            <a:r>
              <a:rPr lang="en-US" sz="1000" dirty="0"/>
              <a:t>An AI-based </a:t>
            </a:r>
            <a:r>
              <a:rPr lang="en-US" sz="1000" b="1" dirty="0"/>
              <a:t>real-time monitoring system</a:t>
            </a:r>
            <a:r>
              <a:rPr lang="en-US" sz="1000" dirty="0"/>
              <a:t> for detecting law and policy changes instantly.</a:t>
            </a:r>
          </a:p>
          <a:p>
            <a:r>
              <a:rPr lang="en-US" sz="1000" dirty="0"/>
              <a:t>Collaborative datasets to create new </a:t>
            </a:r>
            <a:r>
              <a:rPr lang="en-US" sz="1000" b="1" dirty="0"/>
              <a:t>Legal-NLP benchmarks</a:t>
            </a:r>
            <a:r>
              <a:rPr lang="en-US" sz="1000" dirty="0"/>
              <a:t>, contributing to research and innovation.</a:t>
            </a:r>
          </a:p>
        </p:txBody>
      </p:sp>
    </p:spTree>
    <p:extLst>
      <p:ext uri="{BB962C8B-B14F-4D97-AF65-F5344CB8AC3E}">
        <p14:creationId xmlns:p14="http://schemas.microsoft.com/office/powerpoint/2010/main" val="37302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fssai.gov.in/" TargetMode="External"/><Relationship Id="rId3" Type="http://schemas.openxmlformats.org/officeDocument/2006/relationships/hyperlink" Target="https://gst.gov.in/" TargetMode="External"/><Relationship Id="rId7" Type="http://schemas.openxmlformats.org/officeDocument/2006/relationships/hyperlink" Target="https://rbi.org.i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epfindia.gov.in/" TargetMode="External"/><Relationship Id="rId11" Type="http://schemas.openxmlformats.org/officeDocument/2006/relationships/hyperlink" Target="https://data.gov.in/" TargetMode="External"/><Relationship Id="rId5" Type="http://schemas.openxmlformats.org/officeDocument/2006/relationships/hyperlink" Target="https://labour.gov.in/" TargetMode="External"/><Relationship Id="rId10" Type="http://schemas.openxmlformats.org/officeDocument/2006/relationships/hyperlink" Target="https://bareactslive.com/" TargetMode="External"/><Relationship Id="rId4" Type="http://schemas.openxmlformats.org/officeDocument/2006/relationships/hyperlink" Target="https://www.mca.gov.in/" TargetMode="External"/><Relationship Id="rId9" Type="http://schemas.openxmlformats.org/officeDocument/2006/relationships/hyperlink" Target="https://indiankanoon.or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854682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600" i="1" dirty="0">
                <a:sym typeface="Times New Roman"/>
              </a:rPr>
              <a:t>AI-</a:t>
            </a:r>
            <a:r>
              <a:rPr lang="en-GB" sz="3600" i="1" dirty="0" err="1">
                <a:sym typeface="Times New Roman"/>
              </a:rPr>
              <a:t>Sahayak</a:t>
            </a:r>
            <a:r>
              <a:rPr lang="en-GB" sz="3600" i="1" dirty="0">
                <a:sym typeface="Times New Roman"/>
              </a:rPr>
              <a:t>: </a:t>
            </a:r>
            <a:r>
              <a:rPr lang="en-GB" sz="3200" dirty="0">
                <a:sym typeface="Times New Roman"/>
              </a:rPr>
              <a:t>A Smart WhatsApp-First Compliance Assistant for Indian SMEs</a:t>
            </a:r>
            <a:br>
              <a:rPr lang="en-GB" sz="2400" dirty="0">
                <a:sym typeface="Times New Roman"/>
              </a:rPr>
            </a:br>
            <a:br>
              <a:rPr lang="en-GB" sz="2400" dirty="0">
                <a:sym typeface="Times New Roman"/>
              </a:rPr>
            </a:br>
            <a:r>
              <a:rPr lang="en-GB" sz="1800" dirty="0"/>
              <a:t>19CSE495 Project Phase 1 </a:t>
            </a:r>
            <a:br>
              <a:rPr lang="en-GB" sz="2600" dirty="0"/>
            </a:br>
            <a:r>
              <a:rPr lang="en-GB" sz="1800" dirty="0"/>
              <a:t>Team ID: 22UG049			Panel No. :15 </a:t>
            </a:r>
            <a:endParaRPr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2724185139"/>
              </p:ext>
            </p:extLst>
          </p:nvPr>
        </p:nvGraphicFramePr>
        <p:xfrm>
          <a:off x="582654" y="3311645"/>
          <a:ext cx="7983372" cy="18730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</a:t>
                      </a: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EN.U4CSE22033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Karthik </a:t>
                      </a: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Katuri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BL.EN.U4CSE22035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Mudumala Varnika Narayani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BL.EN.U4CSE22040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Nunnaguppala</a:t>
                      </a: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Rohit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BL.EN.U4CSE22218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Dhara Lakshmi </a:t>
                      </a:r>
                      <a:r>
                        <a:rPr lang="en-IN" sz="16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Kusumanchi</a:t>
                      </a:r>
                      <a:r>
                        <a:rPr lang="en-IN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332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0638" y="5591102"/>
            <a:ext cx="482328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800" b="1" dirty="0"/>
              <a:t>Project Guide: Dr Thangam S.</a:t>
            </a:r>
          </a:p>
          <a:p>
            <a:r>
              <a:rPr lang="en-US" sz="1800" b="1" dirty="0"/>
              <a:t>                          </a:t>
            </a:r>
            <a:r>
              <a:rPr lang="en-IN" sz="1800" b="1" dirty="0"/>
              <a:t>Associate</a:t>
            </a:r>
            <a:r>
              <a:rPr lang="en-US" sz="1800" b="1" dirty="0"/>
              <a:t> Professor (CSE)</a:t>
            </a:r>
            <a:endParaRPr lang="en-IN" sz="18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AD0-8417-9C5F-6A00-9FAD3123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3B6086CA-4A1F-D8FF-8E0F-A3020D51D0A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0E93207C-5F92-D136-F565-0E909835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585797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Contents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EE1B8-E2BC-3542-B0A1-3699C8C1BFEC}"/>
              </a:ext>
            </a:extLst>
          </p:cNvPr>
          <p:cNvSpPr txBox="1"/>
          <p:nvPr/>
        </p:nvSpPr>
        <p:spPr>
          <a:xfrm>
            <a:off x="802256" y="1255445"/>
            <a:ext cx="7503544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Mentor Approval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Problem Definition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Objectives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Justification for the Proposed Problem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Significance of the Solution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Motivation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Literature survey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Data Set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Architecture Diagram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Methodology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Implementation Roadmap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Results and Analysis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Conclusion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Future Work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007957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3CBB-BB2B-6338-B6C8-7C7EE5D8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78DE3018-1306-F87A-9F77-D6F7F81C916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23FC686F-C3EF-3A84-EC52-1A1359F206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585797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Mentor Approval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594C4-32C2-59D6-ABF3-E62F696F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18" y="1557850"/>
            <a:ext cx="6400800" cy="421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279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E3B168-AC8A-88E7-09A5-B9C6DB82D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77" y="735207"/>
            <a:ext cx="6522899" cy="3620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DE1069-3978-0271-66C0-E71DBDF161A4}"/>
              </a:ext>
            </a:extLst>
          </p:cNvPr>
          <p:cNvSpPr txBox="1"/>
          <p:nvPr/>
        </p:nvSpPr>
        <p:spPr>
          <a:xfrm>
            <a:off x="779930" y="1547841"/>
            <a:ext cx="77724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Millions of Indian small and medium enterprises face a daunting compliance landscape that threatens their survival and growth. The regulatory burden is immense and unforgiving.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B523957-104E-88ED-D9B6-15059BFA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15" y="2404699"/>
            <a:ext cx="2625005" cy="12929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9F055E-96FA-1A65-6263-383D4782D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879" y="2404699"/>
            <a:ext cx="2625005" cy="13490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E1EAD13-6399-966B-EB6B-2C6605A85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343" y="2404699"/>
            <a:ext cx="2651356" cy="13490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1638A5-5195-FBCD-518B-772FB255E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30" y="4244145"/>
            <a:ext cx="3730976" cy="12929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AEB4BCB-6E13-2408-7DD6-BA7ABE110A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179975"/>
            <a:ext cx="4107389" cy="10447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71A41-65FE-D7ED-7493-1D9778CEE5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3A05E8-6A9C-F1B2-4470-0F3198B7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4950"/>
              </a:lnSpc>
            </a:pPr>
            <a:r>
              <a:rPr lang="en-US" sz="32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Project 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27665-BBBC-98ED-2B30-6D828FD9992F}"/>
              </a:ext>
            </a:extLst>
          </p:cNvPr>
          <p:cNvSpPr txBox="1"/>
          <p:nvPr/>
        </p:nvSpPr>
        <p:spPr>
          <a:xfrm>
            <a:off x="878541" y="1233672"/>
            <a:ext cx="4572000" cy="5311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Primary Objective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3216E-F875-C632-54D1-4FC2026201B3}"/>
              </a:ext>
            </a:extLst>
          </p:cNvPr>
          <p:cNvSpPr txBox="1"/>
          <p:nvPr/>
        </p:nvSpPr>
        <p:spPr>
          <a:xfrm>
            <a:off x="878541" y="1764843"/>
            <a:ext cx="780825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Develop 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</a:t>
            </a:r>
            <a:r>
              <a:rPr lang="en-US" b="1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Sahayak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, an intelligent compliance assistant that operates entirely through WhatsApp, enabling SMEs to maintain compliance effortlessly without additional infrastructure or training.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5F2AC0-0345-C7E7-ECEE-2662A1D1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776" y="2498227"/>
            <a:ext cx="3824096" cy="8776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676A9D-E095-201C-AF0A-F034914B3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1" y="2511240"/>
            <a:ext cx="3749160" cy="7904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7F2FBE-5D4F-67EF-81EF-389CD100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41" y="3489227"/>
            <a:ext cx="3693459" cy="790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D662BF-54EE-C2B1-7898-AB7481FBC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109" y="3511895"/>
            <a:ext cx="3871429" cy="7411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2BADCF-1A67-8A7C-D982-4C3849AD8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41" y="4548491"/>
            <a:ext cx="3741326" cy="72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7605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908EF-33D4-5E55-E537-9CBBD1707D4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8F736D-9992-0853-3509-AB5802B4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75699"/>
            <a:ext cx="8229600" cy="1508126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Why This Solution Matters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65A34-FA78-BACD-A6CB-D1F433B6B1F1}"/>
              </a:ext>
            </a:extLst>
          </p:cNvPr>
          <p:cNvSpPr txBox="1"/>
          <p:nvPr/>
        </p:nvSpPr>
        <p:spPr>
          <a:xfrm>
            <a:off x="824752" y="1665413"/>
            <a:ext cx="4572000" cy="3580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The Market Reality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9AD81-571B-D627-3C11-08DBD59D0BD3}"/>
              </a:ext>
            </a:extLst>
          </p:cNvPr>
          <p:cNvSpPr txBox="1"/>
          <p:nvPr/>
        </p:nvSpPr>
        <p:spPr>
          <a:xfrm>
            <a:off x="846368" y="1942218"/>
            <a:ext cx="7655860" cy="560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80% of SMEs lack any compliance automation tool. Current solutions are expensive, app-based, and English-only — creating insurmountable barriers for most Indian businesses.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7EC83-F94A-8AB8-84A0-D19AB525A6F8}"/>
              </a:ext>
            </a:extLst>
          </p:cNvPr>
          <p:cNvSpPr txBox="1"/>
          <p:nvPr/>
        </p:nvSpPr>
        <p:spPr>
          <a:xfrm>
            <a:off x="690282" y="2813314"/>
            <a:ext cx="8713694" cy="317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1850"/>
              </a:lnSpc>
              <a:buNone/>
            </a:pPr>
            <a:r>
              <a:rPr lang="en-US" b="1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WhatsApp is used by 95% of Indian SMEs</a:t>
            </a:r>
            <a:r>
              <a:rPr lang="en-US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for business communication, making it the perfect delivery channel.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5A89E3-E775-51D9-6750-B2E5DC17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648"/>
          <a:stretch>
            <a:fillRect/>
          </a:stretch>
        </p:blipFill>
        <p:spPr>
          <a:xfrm>
            <a:off x="783616" y="3206900"/>
            <a:ext cx="2707341" cy="9141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80AB79-5A2F-A118-8635-19281517CBF3}"/>
              </a:ext>
            </a:extLst>
          </p:cNvPr>
          <p:cNvSpPr txBox="1"/>
          <p:nvPr/>
        </p:nvSpPr>
        <p:spPr>
          <a:xfrm>
            <a:off x="896472" y="5034501"/>
            <a:ext cx="7790328" cy="5608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solution addresses a critical gap with strong business and societal justification, empowering India's economic backbone.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685D92-1FE4-D721-415A-A4EC53F8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41" r="33407"/>
          <a:stretch>
            <a:fillRect/>
          </a:stretch>
        </p:blipFill>
        <p:spPr>
          <a:xfrm>
            <a:off x="3490957" y="3570629"/>
            <a:ext cx="2707341" cy="9141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523231-7852-E493-572F-D9E6112F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48"/>
          <a:stretch>
            <a:fillRect/>
          </a:stretch>
        </p:blipFill>
        <p:spPr>
          <a:xfrm>
            <a:off x="6198298" y="4027713"/>
            <a:ext cx="2564701" cy="91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8954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6E6FC-4897-6297-E8E2-60DB7FCB1E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670ADE-E2F6-E0F3-8DBA-C6587AE9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4100"/>
              </a:lnSpc>
            </a:pPr>
            <a:r>
              <a:rPr lang="en-US" sz="32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Solution Impact &amp; Advantages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657A4-323C-AEC1-B0CC-0E90A2171CE0}"/>
              </a:ext>
            </a:extLst>
          </p:cNvPr>
          <p:cNvSpPr txBox="1"/>
          <p:nvPr/>
        </p:nvSpPr>
        <p:spPr>
          <a:xfrm>
            <a:off x="922733" y="1469241"/>
            <a:ext cx="7404847" cy="6057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</a:t>
            </a:r>
            <a:r>
              <a:rPr lang="en-US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Sahayak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delivers measurable value by transforming how SMEs manage compliance, turning a burden into a competitive advantage.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FCE53-D4DE-9017-36A5-30721C6F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47" y="2223304"/>
            <a:ext cx="7842253" cy="1508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B292ED-C430-641F-3EA2-107D37EA4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33" y="3967572"/>
            <a:ext cx="3439753" cy="1931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08A716-81BE-13AB-3688-F3E85F12B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508" y="3967572"/>
            <a:ext cx="3186759" cy="206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85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3E4E1E-59B5-80CB-E80D-6E1C55F46C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8502" y="381000"/>
            <a:ext cx="182099" cy="307777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160DB-3632-91F4-19AB-5951774D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8370"/>
            <a:ext cx="8229600" cy="1508126"/>
          </a:xfrm>
        </p:spPr>
        <p:txBody>
          <a:bodyPr/>
          <a:lstStyle/>
          <a:p>
            <a:r>
              <a:rPr lang="en-US" sz="3600" b="1" spc="132" dirty="0">
                <a:latin typeface="Times New Roman" panose="02020603050405020304" pitchFamily="18" charset="0"/>
                <a:ea typeface="Source Serif Pro"/>
                <a:cs typeface="Times New Roman" panose="02020603050405020304" pitchFamily="18" charset="0"/>
                <a:sym typeface="Source Serif Pro"/>
              </a:rPr>
              <a:t> Core Features</a:t>
            </a:r>
            <a:br>
              <a:rPr lang="en-US" sz="3600" b="1" spc="132" dirty="0">
                <a:latin typeface="Times New Roman" panose="02020603050405020304" pitchFamily="18" charset="0"/>
                <a:ea typeface="Source Serif Pro"/>
                <a:cs typeface="Times New Roman" panose="02020603050405020304" pitchFamily="18" charset="0"/>
                <a:sym typeface="Source Serif Pro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1B143-C3F8-7E45-99AA-EC51BCDF7914}"/>
              </a:ext>
            </a:extLst>
          </p:cNvPr>
          <p:cNvSpPr txBox="1"/>
          <p:nvPr/>
        </p:nvSpPr>
        <p:spPr>
          <a:xfrm>
            <a:off x="-239997" y="1398495"/>
            <a:ext cx="4572000" cy="617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1800" spc="76" dirty="0">
                <a:solidFill>
                  <a:srgbClr val="000000"/>
                </a:solidFill>
                <a:latin typeface="Times New Roman" panose="02020603050405020304" pitchFamily="18" charset="0"/>
                <a:ea typeface="Alike Bold"/>
                <a:cs typeface="Times New Roman" panose="02020603050405020304" pitchFamily="18" charset="0"/>
                <a:sym typeface="Alike Bold"/>
              </a:rPr>
              <a:t>AI-</a:t>
            </a:r>
            <a:r>
              <a:rPr lang="en-US" sz="1800" spc="76" dirty="0" err="1">
                <a:solidFill>
                  <a:srgbClr val="000000"/>
                </a:solidFill>
                <a:latin typeface="Times New Roman" panose="02020603050405020304" pitchFamily="18" charset="0"/>
                <a:ea typeface="Alike Bold"/>
                <a:cs typeface="Times New Roman" panose="02020603050405020304" pitchFamily="18" charset="0"/>
                <a:sym typeface="Alike Bold"/>
              </a:rPr>
              <a:t>Sahayak</a:t>
            </a:r>
            <a:r>
              <a:rPr lang="en-US" sz="1800" spc="76" dirty="0">
                <a:solidFill>
                  <a:srgbClr val="000000"/>
                </a:solidFill>
                <a:latin typeface="Times New Roman" panose="02020603050405020304" pitchFamily="18" charset="0"/>
                <a:ea typeface="Alike Bold"/>
                <a:cs typeface="Times New Roman" panose="02020603050405020304" pitchFamily="18" charset="0"/>
                <a:sym typeface="Alike Bold"/>
              </a:rPr>
              <a:t>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3CE1B-6EE9-3D86-5942-79DB038B05A9}"/>
              </a:ext>
            </a:extLst>
          </p:cNvPr>
          <p:cNvSpPr txBox="1"/>
          <p:nvPr/>
        </p:nvSpPr>
        <p:spPr>
          <a:xfrm>
            <a:off x="645460" y="2139934"/>
            <a:ext cx="4769222" cy="19924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📅 Compliance Calendar</a:t>
            </a:r>
          </a:p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 🔔 Smart Alerts (Email, SMS, WhatsApp)</a:t>
            </a:r>
          </a:p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 📄 Document Scanner (risk/missing info detection)</a:t>
            </a:r>
          </a:p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 📝 Auto-filing Assist</a:t>
            </a:r>
          </a:p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 📁 Document Repository</a:t>
            </a:r>
          </a:p>
          <a:p>
            <a:pPr marL="712468" lvl="1" indent="-356234" algn="l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Noticia Text"/>
                <a:cs typeface="Times New Roman" panose="02020603050405020304" pitchFamily="18" charset="0"/>
                <a:sym typeface="Noticia Text"/>
              </a:rPr>
              <a:t> 📲 Mobile-first (no app install needed)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272F8-7C56-963F-9DEF-1A4AA5E9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860" y="1559860"/>
            <a:ext cx="3236642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433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0C46-E9F7-157E-3871-AB246763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AD363510-E819-DA3A-9CBD-2F6BCCBA568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FE35198A-46AD-F683-A75D-65C346427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513271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L</a:t>
            </a:r>
            <a:r>
              <a:rPr lang="en-IN" dirty="0" err="1"/>
              <a:t>iterature</a:t>
            </a:r>
            <a:r>
              <a:rPr lang="en-IN" dirty="0"/>
              <a:t> survey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D9122-0FF4-DF34-11CA-526AF5A0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3955"/>
            <a:ext cx="7739705" cy="46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749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A8EB-F84E-29C7-4008-59281D84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BD6CFE04-5833-897B-3AA6-A6787EDA82D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58C1D4F0-FC3E-0118-70E7-5549ECB54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597379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L</a:t>
            </a:r>
            <a:r>
              <a:rPr lang="en-IN" dirty="0" err="1"/>
              <a:t>iterature</a:t>
            </a:r>
            <a:r>
              <a:rPr lang="en-IN" dirty="0"/>
              <a:t> survey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95C44-D591-B251-6537-682A9472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45" y="1499558"/>
            <a:ext cx="7763543" cy="44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947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6F99-713F-A2BA-EB4B-E8834992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5CB89BE5-9A61-D3C8-B29E-4EB8825B466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E69F74DA-2022-8804-9708-5CC168B16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597379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L</a:t>
            </a:r>
            <a:r>
              <a:rPr lang="en-IN" dirty="0" err="1"/>
              <a:t>iterature</a:t>
            </a:r>
            <a:r>
              <a:rPr lang="en-IN" dirty="0"/>
              <a:t> survey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284D0-7EFD-D526-FC6B-00ECF884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2398"/>
            <a:ext cx="7772400" cy="468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372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7B5B-C0C6-3874-6659-86701CB3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931B717E-DA1A-4670-315C-91AF8732950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23CC80A4-5609-E51E-6157-88745692E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597379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Research gaps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DAF96-51C9-9957-D8EA-9FE5AE70FEF9}"/>
              </a:ext>
            </a:extLst>
          </p:cNvPr>
          <p:cNvSpPr txBox="1"/>
          <p:nvPr/>
        </p:nvSpPr>
        <p:spPr>
          <a:xfrm>
            <a:off x="836762" y="1672087"/>
            <a:ext cx="7570814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and compliant web scraping framework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balancing scalability with legal and ethical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uncertainties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technical barriers in web scraping, especially for Indian compliance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adaptive, low-latency, automated pipelines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compliance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compliance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challenges in legacy system integration, privacy, and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 adoption of compliance solutions for SMEs.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long-term real-world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AI compliance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frameworks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SME-specific compliance needs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dynamic regulation tracking, and compliance-linked financing eligibility.</a:t>
            </a:r>
          </a:p>
        </p:txBody>
      </p:sp>
    </p:spTree>
    <p:extLst>
      <p:ext uri="{BB962C8B-B14F-4D97-AF65-F5344CB8AC3E}">
        <p14:creationId xmlns:p14="http://schemas.microsoft.com/office/powerpoint/2010/main" val="12864495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1F25EE-3115-5020-547D-8163F94629E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645262-964C-B317-5035-6D56374D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Data-Architecture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36C38-5462-A294-6209-6D975DDD2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271" y="1210575"/>
            <a:ext cx="3330658" cy="504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37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6EB21-4D75-2B7D-817E-A720DA5E74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E6CD7-2E09-DFC2-397D-F7A6CB06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70" y="395424"/>
            <a:ext cx="8229600" cy="150812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</a:t>
            </a:r>
            <a:b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8D8C1-32E2-8A4D-6ED8-0CC1477052B1}"/>
              </a:ext>
            </a:extLst>
          </p:cNvPr>
          <p:cNvSpPr txBox="1"/>
          <p:nvPr/>
        </p:nvSpPr>
        <p:spPr>
          <a:xfrm>
            <a:off x="1129553" y="1436147"/>
            <a:ext cx="6696635" cy="37394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u="sng" dirty="0"/>
              <a:t>Source of data set:</a:t>
            </a:r>
          </a:p>
          <a:p>
            <a:endParaRPr lang="en-IN" sz="900" dirty="0"/>
          </a:p>
          <a:p>
            <a:r>
              <a:rPr lang="en-IN" sz="1600" b="1" dirty="0"/>
              <a:t>Government Portals</a:t>
            </a:r>
            <a:r>
              <a:rPr lang="en-IN" sz="1600" dirty="0"/>
              <a:t> – Official sources for latest notifications, rules, and deadlines.</a:t>
            </a:r>
          </a:p>
          <a:p>
            <a:r>
              <a:rPr lang="en-IN" sz="1400" b="1" dirty="0"/>
              <a:t>GST:</a:t>
            </a:r>
            <a:r>
              <a:rPr lang="en-IN" sz="1400" dirty="0"/>
              <a:t> Tax updates, return dates – </a:t>
            </a:r>
            <a:r>
              <a:rPr lang="en-IN" sz="1400" dirty="0">
                <a:hlinkClick r:id="rId3"/>
              </a:rPr>
              <a:t>gst.gov.in</a:t>
            </a:r>
            <a:endParaRPr lang="en-IN" sz="1400" dirty="0"/>
          </a:p>
          <a:p>
            <a:r>
              <a:rPr lang="en-IN" sz="1400" b="1" dirty="0"/>
              <a:t>MCA:</a:t>
            </a:r>
            <a:r>
              <a:rPr lang="en-IN" sz="1400" dirty="0"/>
              <a:t> Company &amp; LLP compliance – </a:t>
            </a:r>
            <a:r>
              <a:rPr lang="en-IN" sz="1400" dirty="0">
                <a:hlinkClick r:id="rId4"/>
              </a:rPr>
              <a:t>mca.gov.in</a:t>
            </a:r>
            <a:endParaRPr lang="en-IN" sz="1400" dirty="0"/>
          </a:p>
          <a:p>
            <a:r>
              <a:rPr lang="en-IN" sz="1400" b="1" dirty="0"/>
              <a:t>Labour Laws:</a:t>
            </a:r>
            <a:r>
              <a:rPr lang="en-IN" sz="1400" dirty="0"/>
              <a:t> National labour policies – </a:t>
            </a:r>
            <a:r>
              <a:rPr lang="en-IN" sz="1400" dirty="0">
                <a:hlinkClick r:id="rId5"/>
              </a:rPr>
              <a:t>labour.gov.in</a:t>
            </a:r>
            <a:endParaRPr lang="en-IN" sz="1400" dirty="0"/>
          </a:p>
          <a:p>
            <a:r>
              <a:rPr lang="en-IN" sz="1400" b="1" dirty="0"/>
              <a:t>EPFO:</a:t>
            </a:r>
            <a:r>
              <a:rPr lang="en-IN" sz="1400" dirty="0"/>
              <a:t> PF regulations – </a:t>
            </a:r>
            <a:r>
              <a:rPr lang="en-IN" sz="1400" dirty="0">
                <a:hlinkClick r:id="rId6"/>
              </a:rPr>
              <a:t>epfindia.gov.in</a:t>
            </a:r>
            <a:endParaRPr lang="en-IN" sz="1400" dirty="0"/>
          </a:p>
          <a:p>
            <a:r>
              <a:rPr lang="en-IN" sz="1400" b="1" dirty="0"/>
              <a:t>RBI:</a:t>
            </a:r>
            <a:r>
              <a:rPr lang="en-IN" sz="1400" dirty="0"/>
              <a:t> Banking &amp; financial circulars – </a:t>
            </a:r>
            <a:r>
              <a:rPr lang="en-IN" sz="1400" dirty="0">
                <a:hlinkClick r:id="rId7"/>
              </a:rPr>
              <a:t>rbi.org.in</a:t>
            </a:r>
            <a:endParaRPr lang="en-IN" sz="1400" dirty="0"/>
          </a:p>
          <a:p>
            <a:r>
              <a:rPr lang="en-IN" sz="1400" b="1" dirty="0"/>
              <a:t>FSSAI:</a:t>
            </a:r>
            <a:r>
              <a:rPr lang="en-IN" sz="1400" dirty="0"/>
              <a:t> Food safety compliance – </a:t>
            </a:r>
            <a:r>
              <a:rPr lang="en-IN" sz="1400" dirty="0">
                <a:hlinkClick r:id="rId8"/>
              </a:rPr>
              <a:t>fssai.gov.in</a:t>
            </a:r>
            <a:endParaRPr lang="en-IN" sz="1400" dirty="0"/>
          </a:p>
          <a:p>
            <a:endParaRPr lang="en-IN" sz="900" dirty="0"/>
          </a:p>
          <a:p>
            <a:r>
              <a:rPr lang="en-IN" sz="1600" b="1" dirty="0"/>
              <a:t>Legal Databases (Free)</a:t>
            </a:r>
            <a:r>
              <a:rPr lang="en-IN" sz="1600" dirty="0"/>
              <a:t> – Case laws, judgements, and bare acts.</a:t>
            </a:r>
          </a:p>
          <a:p>
            <a:r>
              <a:rPr lang="en-IN" sz="1400" dirty="0">
                <a:hlinkClick r:id="rId9"/>
              </a:rPr>
              <a:t>indiankanoon.org</a:t>
            </a:r>
            <a:endParaRPr lang="en-IN" sz="1400" dirty="0"/>
          </a:p>
          <a:p>
            <a:r>
              <a:rPr lang="en-IN" sz="1400" dirty="0">
                <a:hlinkClick r:id="rId10"/>
              </a:rPr>
              <a:t>bareactslive.com</a:t>
            </a:r>
            <a:endParaRPr lang="en-IN" sz="1400" dirty="0"/>
          </a:p>
          <a:p>
            <a:endParaRPr lang="en-IN" sz="900" dirty="0"/>
          </a:p>
          <a:p>
            <a:r>
              <a:rPr lang="en-IN" sz="1600" b="1" dirty="0"/>
              <a:t>Open Data Initiatives</a:t>
            </a:r>
            <a:r>
              <a:rPr lang="en-IN" sz="1600" dirty="0"/>
              <a:t> – Public datasets on laws, taxes, and corporate affairs.</a:t>
            </a:r>
          </a:p>
          <a:p>
            <a:r>
              <a:rPr lang="en-IN" sz="1400" dirty="0">
                <a:hlinkClick r:id="rId11"/>
              </a:rPr>
              <a:t>data.gov.in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0223646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7969-4930-CB67-011A-FF77A48B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A5C6A188-4AB8-3080-58A2-380C3FA2621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2BCC07-FE4B-3E06-56BD-5E09901A3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885234-8D51-A5A9-57CD-0F60DE67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396" y="1293062"/>
            <a:ext cx="5795207" cy="496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768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1A4C5-92D3-93CD-D3AB-F3464D44511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44AD69-3250-5562-EF33-67E437CE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5030"/>
            <a:ext cx="8229600" cy="150812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System Architecture Overview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BA475-C1B7-0C38-A205-CCCCBB431FA1}"/>
              </a:ext>
            </a:extLst>
          </p:cNvPr>
          <p:cNvSpPr txBox="1"/>
          <p:nvPr/>
        </p:nvSpPr>
        <p:spPr>
          <a:xfrm>
            <a:off x="793377" y="1526399"/>
            <a:ext cx="781722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</a:t>
            </a:r>
            <a:r>
              <a:rPr lang="en-US" sz="1400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Sahayak</a:t>
            </a: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integrates multiple AI-powered components to deliver end-to-end compliance automation through a familiar WhatsApp interface.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F71BDD-CAD7-2ACD-8B5B-07FA3134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2470373"/>
            <a:ext cx="8059271" cy="1252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55A7C9-F017-0B84-6ED9-80E3A14DA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" y="4032039"/>
            <a:ext cx="8059271" cy="10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3353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061A-A7D7-8BFF-52AB-4707E888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97846-DFFD-3ED4-AF2A-0713688E370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7954CF-3347-6488-912C-710E5B3C9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75" y="232757"/>
            <a:ext cx="8238226" cy="1331284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CEE7450-4E9B-389F-1390-663612F0D7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CDEF12F-9CAC-7673-B182-ADC7AB86AF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A737C-8CE1-1804-D87B-8E838DA06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7" b="5739"/>
          <a:stretch>
            <a:fillRect/>
          </a:stretch>
        </p:blipFill>
        <p:spPr>
          <a:xfrm>
            <a:off x="287277" y="1120588"/>
            <a:ext cx="8408422" cy="521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2879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E366C-0421-9397-7275-9471C64D96B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F78FBF-0A6E-54CE-5679-EA602722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50812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Technology Stack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89B5F-E96D-54E0-9940-49D3F7CE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66" y="1353071"/>
            <a:ext cx="589679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953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DDE01B-9FB8-BE04-EF72-DD3CD4AA5B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F6A64-C78D-8F0F-6BD3-E291FF490C8D}"/>
              </a:ext>
            </a:extLst>
          </p:cNvPr>
          <p:cNvSpPr txBox="1"/>
          <p:nvPr/>
        </p:nvSpPr>
        <p:spPr>
          <a:xfrm>
            <a:off x="3056966" y="676260"/>
            <a:ext cx="4572000" cy="425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User Interaction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8024B-EFC5-374A-1301-69723199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29" y="1426160"/>
            <a:ext cx="4706580" cy="436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5116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7CF86E-91DD-6F95-E351-BEED7E2ED2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20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41F8C3-F72B-F259-21D0-07359AF1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Mockup’s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D580C-AA75-6665-DA37-7CF1E7354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97" y="1717282"/>
            <a:ext cx="7958605" cy="342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1504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2F902-2CEE-111F-EB0B-9451E1805A0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21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F06D2B-DB18-20DF-86E5-163B44B3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7580"/>
            <a:ext cx="8229600" cy="1508126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4F6F8-B863-E95D-EC40-78AFB39E6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915" y="1479175"/>
            <a:ext cx="4796108" cy="415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956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BC238-3EFB-2268-927C-72B85E89E6C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E5BFB-ED40-C392-9D65-3B2723D8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12" y="1684456"/>
            <a:ext cx="8192688" cy="37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0521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1CD7A-4573-280B-D8C0-5B33A2C6E4E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23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3A3361-0787-F8CF-C5F2-E74CE976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33113"/>
            <a:ext cx="8229600" cy="1508126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Research Contribution &amp; Publication Potential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85F5F-5059-6F67-99B6-4910C2AAE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6" y="1760832"/>
            <a:ext cx="3722606" cy="2187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421C64-406C-71AB-CCC7-663B6167A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007" y="1841239"/>
            <a:ext cx="4225594" cy="317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1318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81000"/>
            <a:ext cx="8229600" cy="1005206"/>
          </a:xfrm>
        </p:spPr>
        <p:txBody>
          <a:bodyPr/>
          <a:lstStyle/>
          <a:p>
            <a:r>
              <a:rPr lang="en-US" sz="3200" b="1" dirty="0">
                <a:latin typeface="Times New Roman"/>
                <a:cs typeface="Times New Roman"/>
              </a:rPr>
              <a:t>Conclusion</a:t>
            </a:r>
            <a:endParaRPr lang="en-IN" sz="3200" b="1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76128-264D-2F58-6463-BE04BFBE5944}"/>
              </a:ext>
            </a:extLst>
          </p:cNvPr>
          <p:cNvSpPr txBox="1"/>
          <p:nvPr/>
        </p:nvSpPr>
        <p:spPr>
          <a:xfrm>
            <a:off x="772932" y="1716617"/>
            <a:ext cx="7902935" cy="22483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/>
              <a:t>AI-</a:t>
            </a:r>
            <a:r>
              <a:rPr lang="en-IN" sz="2000" b="1" dirty="0" err="1"/>
              <a:t>Sahayak</a:t>
            </a:r>
            <a:r>
              <a:rPr lang="en-IN" sz="2000" b="1" dirty="0"/>
              <a:t> delivers a real compliance transformation for SMEs: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🧩 </a:t>
            </a:r>
            <a:r>
              <a:rPr lang="en-IN" sz="1600" dirty="0"/>
              <a:t>Simplifies complex regulations into actionable guidance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🛡 Reduces penalties and compliance risks significantly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🌍 Enhances accessibility with multilingual &amp; WhatsApp-first design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💼 Empowers small business owners to focus on growth, not paperwork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🇮🇳 Strengthens India’s MSME sector — the economic backbone of the country</a:t>
            </a: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ABD9C-F62B-9C9B-FA5A-CF230A72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EF1D-7BDE-C174-B8A3-3B0E008F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8229600" cy="1005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Future Work</a:t>
            </a:r>
            <a:endParaRPr lang="en-IN" b="1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762420-00EF-7BF5-2CD6-C58AFD2C1F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A6960-2E79-689C-9F5F-DB1F6B243ABD}"/>
              </a:ext>
            </a:extLst>
          </p:cNvPr>
          <p:cNvSpPr txBox="1"/>
          <p:nvPr/>
        </p:nvSpPr>
        <p:spPr>
          <a:xfrm>
            <a:off x="986117" y="1386206"/>
            <a:ext cx="8597153" cy="4585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Technology Enhancements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Advanced Risk Prediction Engine using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 for ALL major Indian regional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Voice-enabled WhatsApp commands using ASR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Auto-filing integration with GSTN, EPFO &amp; MCA portals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e-signing &amp; compliance history for audits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sz="1800" b="1" dirty="0"/>
              <a:t>Business Upgrades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Partner network with CA/CS associations &amp; FinTech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Micro-credit scoring based on compliance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Affordable subscription tiers for startups, retail, &amp; factories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sz="1800" b="1" dirty="0"/>
              <a:t>Research Extensions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Compliance knowledge graph of Indian laws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law change monitoring using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Collaborative dataset building for Legal-NLP benchmark research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08980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1596F-5812-CCDA-1074-425573D8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0802A-ABF7-8E00-BF27-253442E465F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F89F6-C0A8-4342-E906-683432900215}"/>
              </a:ext>
            </a:extLst>
          </p:cNvPr>
          <p:cNvSpPr txBox="1"/>
          <p:nvPr/>
        </p:nvSpPr>
        <p:spPr>
          <a:xfrm>
            <a:off x="620532" y="1784300"/>
            <a:ext cx="790293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64D72-13F4-D9B0-6AD8-D4CBE8836613}"/>
              </a:ext>
            </a:extLst>
          </p:cNvPr>
          <p:cNvSpPr txBox="1"/>
          <p:nvPr/>
        </p:nvSpPr>
        <p:spPr>
          <a:xfrm>
            <a:off x="733245" y="1483744"/>
            <a:ext cx="7790222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Ayodeji,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Adesokan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"Artificial Intelligence in Enhancing Regulatory Compliance and Risk Management." ResearchGate, June (2024).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Kothandapani, Hariharan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Pappil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"Automating financial compliance with AI: A New Era in regulatory technology (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RegTech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)." Int. J. Sci. Res. Arch 11 (2024): 2646-2659.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Padmanaban, Harish. "Revolutionizing regulatory reporting through AI/ML: Approaches for enhanced compliance and efficiency." Journal of Artificial Intelligence General science (JAIGS) ISSN: 3006-4023 2, no. 1 (2024): 71-90.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Brown, Megan A., Andrew Gruen, Gabe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Maldoff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Solomon Messing,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Zeve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Sanderson, and Michael Zimmer. "Web scraping for research: Legal, ethical, institutional, and scientific considerations."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arXiv:2410.23432 (2024).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Krotov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Vlad, Leigh Johnson, and Leiser Silva. "Tutorial: Legality and ethics of web scraping." (2020).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Fu, Guo, Yanfeng Zhang, and Ge Yu. "A fair comparison of message queuing systems." IEEE access 9 (2020): 421-432.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Kumar, Tambi Varun. "Efficient Message Queue Prioritization in Kafka for Critical Systems." (2023).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Ramu, Vivek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Basavegowda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"Optimizing database performance: Strategies for efficient query execution and resource utilization." International Journal of Computer Trends and Technology 71, no. 7 (2023): 15-21.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ferences">
            <a:extLst>
              <a:ext uri="{FF2B5EF4-FFF2-40B4-BE49-F238E27FC236}">
                <a16:creationId xmlns:a16="http://schemas.microsoft.com/office/drawing/2014/main" id="{AE537639-1C6F-A804-158F-5985C87FB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810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dirty="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8311789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DFB2-8147-BE77-8A8A-E7AE9273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F91C2-C3B3-2041-7456-5403F5B3990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C4F8A-6F65-CF3D-8127-F296BFB403AB}"/>
              </a:ext>
            </a:extLst>
          </p:cNvPr>
          <p:cNvSpPr txBox="1"/>
          <p:nvPr/>
        </p:nvSpPr>
        <p:spPr>
          <a:xfrm>
            <a:off x="620532" y="1784300"/>
            <a:ext cx="790293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DD31C-C3E7-EB27-7E48-786082B29C33}"/>
              </a:ext>
            </a:extLst>
          </p:cNvPr>
          <p:cNvSpPr txBox="1"/>
          <p:nvPr/>
        </p:nvSpPr>
        <p:spPr>
          <a:xfrm>
            <a:off x="733245" y="1483744"/>
            <a:ext cx="7790222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Uzzaman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Arfan, Md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Majadul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Islam Jim, N. Nishat, and J. Nahar. "Optimizing SQL databases for big data workloads: techniques and best practices." Academic Journal on Business Administration, Innovation &amp; Sustainability 4, no. 3 (2024): 15-29.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S. Paul, A. Mandal, P. Goyal, and S. Ghosh, “Pre-trained language models for the legal domain: a case study on Indian law,” in 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on Artificial Intelligence and Law (ICAIL)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2023, pp. 313–322.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B.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Charoenwong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al., “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RegTech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Technology-driven compliance and its effects on profitability, operations, and market structure,” 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Financial Economics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154, p. 103792, 2024.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A. U.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Akang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“Regulatory compliance and access to finance: implications for business growth in developing economies,” 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Business Venturing Insights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19, e00365, 2023.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S. Hassani, “Enhancing legal compliance and regulation analysis with large language models,” 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Ethics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[14] D. Mendis, K. Barker, and K. McCullagh, “Tracing technological boundaries: law, technology, and compliance?,” 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Review of Law, Computers &amp; Technology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36, no. 3, pp. 261–280, 2022.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[15] </a:t>
            </a:r>
            <a:r>
              <a:rPr lang="en-IN" sz="1600" dirty="0"/>
              <a:t>K. Li and Y. Zhang, “Automated compliance monitoring with natural language processing,” </a:t>
            </a:r>
            <a:r>
              <a:rPr lang="en-IN" sz="1600" i="1" dirty="0"/>
              <a:t>Information Systems Frontiers</a:t>
            </a:r>
            <a:r>
              <a:rPr lang="en-IN" sz="1600" dirty="0"/>
              <a:t>, vol. 25, pp. 345–360,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ferences">
            <a:extLst>
              <a:ext uri="{FF2B5EF4-FFF2-40B4-BE49-F238E27FC236}">
                <a16:creationId xmlns:a16="http://schemas.microsoft.com/office/drawing/2014/main" id="{B8227BF8-7C28-5B54-DD65-F20147F6F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3810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 dirty="0">
                <a:latin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5569285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9763</TotalTime>
  <Words>2437</Words>
  <Application>Microsoft Office PowerPoint</Application>
  <PresentationFormat>On-screen Show (4:3)</PresentationFormat>
  <Paragraphs>214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Times New Roman</vt:lpstr>
      <vt:lpstr>11_Default Design</vt:lpstr>
      <vt:lpstr>AI-Sahayak: A Smart WhatsApp-First Compliance Assistant for Indian SMEs  19CSE495 Project Phase 1  Team ID: 22UG049   Panel No. :15 </vt:lpstr>
      <vt:lpstr>Contents</vt:lpstr>
      <vt:lpstr>Mentor Approval</vt:lpstr>
      <vt:lpstr>PowerPoint Presentation</vt:lpstr>
      <vt:lpstr>Project Objectives</vt:lpstr>
      <vt:lpstr>Why This Solution Matters </vt:lpstr>
      <vt:lpstr>Solution Impact &amp; Advantages</vt:lpstr>
      <vt:lpstr> Core Features </vt:lpstr>
      <vt:lpstr>Literature survey</vt:lpstr>
      <vt:lpstr>Literature survey</vt:lpstr>
      <vt:lpstr>Literature survey</vt:lpstr>
      <vt:lpstr>Research gaps</vt:lpstr>
      <vt:lpstr>Data-Architecture Diagram </vt:lpstr>
      <vt:lpstr>Data Set </vt:lpstr>
      <vt:lpstr>Architecture Diagram</vt:lpstr>
      <vt:lpstr>System Architecture Overview </vt:lpstr>
      <vt:lpstr>Methodology</vt:lpstr>
      <vt:lpstr>Technology Stack </vt:lpstr>
      <vt:lpstr>PowerPoint Presentation</vt:lpstr>
      <vt:lpstr>Ui-Mockup’s</vt:lpstr>
      <vt:lpstr>Results</vt:lpstr>
      <vt:lpstr>PowerPoint Presentation</vt:lpstr>
      <vt:lpstr>Research Contribution &amp; Publication Potential </vt:lpstr>
      <vt:lpstr>Conclusion</vt:lpstr>
      <vt:lpstr>Future Work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Dhara Lakshmi</cp:lastModifiedBy>
  <cp:revision>224</cp:revision>
  <dcterms:modified xsi:type="dcterms:W3CDTF">2025-11-23T05:04:58Z</dcterms:modified>
</cp:coreProperties>
</file>